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[Samuel Maciel] Boa tarde a todos. Nós somos o grupo responsável pelo Sistema de Gestão de Armazém, o WMS, desenvolvido como trabalho final da disciplina. Eu sou o Samuel, e comigo estão o Daniel, o Cesário e o Yuri. Cada um vai conduzir uma parte. Vamos começar.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[Samuel Maciel] Antes de entrar no sistema, mostro como dividimos a conversa. São quatro blocos: eu começo com o problema e o contexto; o Daniel mostra o que o sistema faz e os fluxos; o Cesário entra em arquitetura e tecnologia; e o Yuri fecha com banco de dados, API e o nosso processo de desenvolvimento.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[Samuel Maciel] Qual a dor que resolvemos? Muitos armazéns controlam estoque no papel. Isso gera quatro problemas conectados: erros de contagem (perda e saldo que não bate); tempo perdido (operador procurando produto sem guia); reposição errada (compra demais e sobra, ou de menos e falta); e o resultado: prejuízo direto — atraso, dinheiro parado, equipe desgastada. Sem informação confiável em tempo real, o armazém vira ponto crítico de ineficiência.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[Samuel Maciel] Para quem construímos? Três perfis. O Gestor, que precisa enxergar o estoque a qualquer momento e decidir com dados. O Operador, que recebe, guarda, separa e conta — e precisa de orientação clara de onde guardar e buscar cada item. E Compras e Suprimentos, que decide quando e quanto comprar, e precisa de histórico de consumo e alertas de estoque mínimo.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[Samuel Maciel] Resumindo numa frase: uma aplicação web que controla entrada, saída, localização e saldo dos produtos, em tempo real e com auditoria completa. Isso se traduz em quatro capacidades: cadastro e organização, movimentação, localização e busca, e controle com alertas. &gt;&gt;&gt; PASSAGEM: 'É sobre essas capacidades que o Daniel vai falar. Daniel, pode seguir.'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[Daniel Dewes] Obrigado, Samuel. Detalhando os quatro grupos: em cadastro, produtos com categoria e estoque mínimo, fornecedores, e o armazém em áreas, corredores e posições. Em movimentação, entrada, saída, devoluções e transferências. Em localização, posição exata e busca por nome ou categoria. Em controle, saldo em tempo real, alerta de mínimo e inventário com conferência física.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[Daniel Dewes] Como funciona no dia a dia? Dois fluxos principais. Recebimento: operador informa fornecedor e itens; sistema confirma e atualiza saldo; indica a posição de guarda; operador aloca e confirma. Expedição é o inverso: operador informa o pedido, sistema mostra onde cada item está, operador coleta e confirma item por item, confirma a expedição, sistema registra a saída. Em tudo, o operador é guiado — não depende da memória.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[Daniel Dewes] Mais três fluxos de apoio. Alerta de Reposição: sistema monitora o saldo e avisa Compras quando cai abaixo do mínimo. Inventário: gestor inicia a contagem, operador informa o físico, sistema compara e destaca divergências. Consulta: usuário busca um produto e vê saldo, posição, mínimo e histórico. Esses cinco fluxos cobrem a operação completa. &gt;&gt;&gt; PASSAGEM: 'Passo para o Cesário falar de como foi construído por dentro.'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[Cesario Junior] Valeu, Daniel. Abrindo o capô: a base é Next.js 15 com TypeScript — front e back no mesmo projeto. Dados no PostgreSQL, acessados via Prisma (ORM, consultas e migrações). Autenticação com NextAuth via JWT. Validação com Zod. Formulários com React Hook Form, cache de requisições com TanStack Query, visual com Tailwind CSS. Stack moderna, integrada e toda em TypeScript.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[Cesario Junior] As tecnologias se organizam em camadas, num MVC adaptado. View: páginas React, o que o usuário vê e a validação no cliente. Controller: as API Routes, onde verificamos sessão, permissão, validamos e geramos logs. Serviço: isola o Prisma e a auditoria. Model: Prisma com PostgreSQL, transações atômicas e migrações. Cada camada com responsabilidade clara facilita a manutenção.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[Cesario Junior] Caminho de uma baixa de estoque: interface valida com Zod no navegador; TanStack Query envia à API; API verifica sessão (401 se ausente); verifica o papel (403 se sem permissão); valida de novo no servidor; e o ponto central: tudo roda numa transação Prisma — saldo, movimentação e log juntos, ou nada. Retorna 200 e a tela atualiza. Segurança: senhas só em hash, autorização no servidor, validação de toda entrada, sessão assinada, Prisma contra SQL Injection, e auditoria de cada ação. &gt;&gt;&gt; PASSAGEM: 'Passo a palavra pro Yuri, que detalha o banco.'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[Yuri Carvalho] Obrigado, Cesário. O coração é o modelo de dados. Quatro entidades: Usuario (quem opera, com seu papel); Produto (item de estoque — a quantidade é a fonte de verdade do saldo); MovimentacaoEstoque (livro-razão imutável: cada entrada/saída/ajuste vira registro); e Log (auditoria). Apoiados por dois enums: UsuarioRole (Admin, Gerente, Operador, Usuário) e TipoMovimento (estoque inicial, compra, venda, ajuste, perda).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[Yuri Carvalho] Cinco regras garantidas no banco. Atomicidade: produto, movimentação e log gravados juntos numa transação — saldo nunca racha. Saldo é a fonte de verdade, movimentações são o histórico. Integridade referencial: excluir produto leva as movimentações junto. Rastreabilidade: toda movimentação registra o responsável. Senha sempre protegida, só como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[Yuri Carvalho] Tudo exposto por uma API REST com as API Routes do Next.js, protegida por autenticação. Endpoints para listar, criar, consultar, editar, excluir produtos, e o de baixa de estoque. O ponto-chave é a matriz de permissões: consultar, qualquer perfil; baixar estoque, Operador para cima; criar/editar, Gerente ou Admin; excluir, só Admin. Controle de acesso granular, verificado a cada chamada.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[Yuri Carvalho] Como chegamos aqui: o processo foi tão importante quanto o código. Cinco etapas: PRD (problema, público, fluxos); Spec (requisitos); Plano técnico (decisões de stack e arquitetura); Implementação (módulos por feature); e Validação. Cada funcionalidade nasceu de uma mudança versionada, e o Zod foi a fonte única de verdade — mesmo schema no formulário e no servidor, sem duplicação.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[Yuri Carvalho / Todos] É isso! Construímos um sistema que tira o armazém do controle manual e dá visão de estoque em tempo real, com segurança e auditoria de ponta a ponta. Agradecemos a atenção e ficamos à disposição para as perguntas. Obrigado!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9E0B"/>
                </a:solidFill>
                <a:latin typeface="Segoe UI"/>
              </a:rPr>
              <a:t>📦  WMS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Sistema de Gestão de Armazém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CBD5E1"/>
                </a:solidFill>
                <a:latin typeface="Segoe UI"/>
              </a:rPr>
              <a:t>Controle de estoque em tempo real, localização e inventário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94760"/>
            <a:ext cx="384048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Tópicos Especiais em Computação I — B  ·  Trabalho Final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92040"/>
            <a:ext cx="2514600" cy="96012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2514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Samuel Maciel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integrante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4892040"/>
            <a:ext cx="2514600" cy="96012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5029200"/>
            <a:ext cx="2514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Daniel Dewes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integrante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92040"/>
            <a:ext cx="2514600" cy="96012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5029200"/>
            <a:ext cx="2514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Cesario Junior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integrante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4892040"/>
            <a:ext cx="2514600" cy="96012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5029200"/>
            <a:ext cx="2514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Yuri Carvalho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integrante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2026  ·  github.com/AtomicWorm/sistemaWMS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2A43"/>
                </a:solidFill>
                <a:latin typeface="Segoe UI"/>
              </a:rPr>
              <a:t>Roteiro da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Quatro blocos — um por integrante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868680" cy="5943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F2A43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938528"/>
            <a:ext cx="6583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0F2A43"/>
                </a:solidFill>
                <a:latin typeface="Segoe UI"/>
              </a:rPr>
              <a:t>Problema &amp; Contexto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Dor do negócio, público-alvo e visão geral da solução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08483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47609"/>
                </a:solidFill>
                <a:latin typeface="Segoe UI"/>
              </a:rPr>
              <a:t>Samuel Maciel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3108960"/>
            <a:ext cx="868680" cy="5943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035808"/>
            <a:ext cx="6583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0F2A43"/>
                </a:solidFill>
                <a:latin typeface="Segoe UI"/>
              </a:rPr>
              <a:t>Funcionalidades &amp; Fluxos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O que o sistema faz e os 5 fluxos de operação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18211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Segoe UI"/>
              </a:rPr>
              <a:t>Daniel Dewes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868680" cy="594360"/>
          </a:xfrm>
          <a:prstGeom prst="roundRect">
            <a:avLst>
              <a:gd name="adj" fmla="val 2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133088"/>
            <a:ext cx="6583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0F2A43"/>
                </a:solidFill>
                <a:latin typeface="Segoe UI"/>
              </a:rPr>
              <a:t>Arquitetura &amp;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Camadas, tecnologias e ciclo de uma requisição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2793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Cesario Junior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5303520"/>
            <a:ext cx="868680" cy="59436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230368"/>
            <a:ext cx="6583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0F2A43"/>
                </a:solidFill>
                <a:latin typeface="Segoe UI"/>
              </a:rPr>
              <a:t>Dados, API &amp; Processo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Modelo de dados, API REST e método de desenvolvimento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37667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Yuri Carvalho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47609"/>
                </a:solidFill>
                <a:latin typeface="Segoe UI"/>
              </a:rPr>
              <a:t>BLOCO 01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O Problema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0F2A43"/>
                </a:solidFill>
                <a:latin typeface="Segoe UI"/>
              </a:rPr>
              <a:t>Apresenta: Samuel Maciel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Armazéns que dependem de processos manuais perdem controle do que têm e de onde está.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F59E0B"/>
                </a:solidFill>
                <a:latin typeface="Segoe UI"/>
              </a:rPr>
              <a:t>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063240"/>
            <a:ext cx="4069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A43"/>
                </a:solidFill>
                <a:latin typeface="Segoe UI"/>
              </a:rPr>
              <a:t>Erros de contagem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Perdas de mercadoria e divergências constantes de saldo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83464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035808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F59E0B"/>
                </a:solidFill>
                <a:latin typeface="Segoe UI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063240"/>
            <a:ext cx="4069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A43"/>
                </a:solidFill>
                <a:latin typeface="Segoe UI"/>
              </a:rPr>
              <a:t>Tempo perdido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Operadores procuram produtos sem guia de localização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2628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F59E0B"/>
                </a:solidFill>
                <a:latin typeface="Segoe UI"/>
              </a:rPr>
              <a:t>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754880"/>
            <a:ext cx="4069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A43"/>
                </a:solidFill>
                <a:latin typeface="Segoe UI"/>
              </a:rPr>
              <a:t>Reposição errada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Falta de itens essenciais ou excesso de estoque parado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52628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727448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F59E0B"/>
                </a:solidFill>
                <a:latin typeface="Segoe UI"/>
              </a:rPr>
              <a:t>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754880"/>
            <a:ext cx="4069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A43"/>
                </a:solidFill>
                <a:latin typeface="Segoe UI"/>
              </a:rPr>
              <a:t>Prejuízo direto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Atrasos nas entregas e desgaste da equipe operacional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47609"/>
                </a:solidFill>
                <a:latin typeface="Segoe UI"/>
              </a:rPr>
              <a:t>BLOCO 01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Para quem é o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0F2A43"/>
                </a:solidFill>
                <a:latin typeface="Segoe UI"/>
              </a:rPr>
              <a:t>Apresenta: Samuel Maciel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611880" cy="16459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611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0">
                <a:solidFill>
                  <a:srgbClr val="14B8A6"/>
                </a:solidFill>
                <a:latin typeface="Segoe UI"/>
              </a:rPr>
              <a:t>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2A43"/>
                </a:solidFill>
                <a:latin typeface="Segoe UI"/>
              </a:rPr>
              <a:t>Gestor de Armazém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Visão geral do estoque a qualquer momento, alertas de reposição e decisões com base em dados confiáveis.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1168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2011680"/>
            <a:ext cx="3611880" cy="1645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468880"/>
            <a:ext cx="3611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0">
                <a:solidFill>
                  <a:srgbClr val="F59E0B"/>
                </a:solidFill>
                <a:latin typeface="Segoe UI"/>
              </a:rPr>
              <a:t>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61188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2A43"/>
                </a:solidFill>
                <a:latin typeface="Segoe UI"/>
              </a:rPr>
              <a:t>Operador de Estoque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206240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Recebe, guarda, separa e conta produtos com orientação clara de onde guardar e buscar cada item.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01168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3611880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611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0">
                <a:solidFill>
                  <a:srgbClr val="60A5FA"/>
                </a:solidFill>
                <a:latin typeface="Segoe UI"/>
              </a:rPr>
              <a:t>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1188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2A43"/>
                </a:solidFill>
                <a:latin typeface="Segoe UI"/>
              </a:rPr>
              <a:t>Compras &amp; Suprimentos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206240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Decide quando e quanto comprar, com histórico de consumo e alertas automáticos de estoque mínimo.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47609"/>
                </a:solidFill>
                <a:latin typeface="Segoe UI"/>
              </a:rPr>
              <a:t>BLOCO 01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A solução em uma frase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0F2A43"/>
                </a:solidFill>
                <a:latin typeface="Segoe UI"/>
              </a:rPr>
              <a:t>Apresenta: Samuel Maciel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Uma aplicação web que controla </a:t>
            </a:r>
            <a:r>
              <a:rPr sz="2000" b="1">
                <a:solidFill>
                  <a:srgbClr val="F59E0B"/>
                </a:solidFill>
                <a:latin typeface="Segoe UI"/>
              </a:rPr>
              <a:t>entrada, saída, localização e saldo</a:t>
            </a:r>
            <a:r>
              <a:rPr sz="2000" b="0">
                <a:solidFill>
                  <a:srgbClr val="FFFFFF"/>
                </a:solidFill>
                <a:latin typeface="Segoe UI"/>
              </a:rPr>
              <a:t> dos produtos do armazém — </a:t>
            </a:r>
            <a:r>
              <a:rPr sz="2000" b="1">
                <a:solidFill>
                  <a:srgbClr val="14B8A6"/>
                </a:solidFill>
                <a:latin typeface="Segoe UI"/>
              </a:rPr>
              <a:t>em tempo real e com auditoria completa.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88620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6576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A43"/>
                </a:solidFill>
                <a:latin typeface="Segoe UI"/>
              </a:rPr>
              <a:t>Cadastro &amp; organização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Produtos, fornecedores e estrutura do armazém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47472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88620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6576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A43"/>
                </a:solidFill>
                <a:latin typeface="Segoe UI"/>
              </a:rPr>
              <a:t>Movimentação de estoque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Entrada, saída, devolução e transferência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060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521208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A43"/>
                </a:solidFill>
                <a:latin typeface="Segoe UI"/>
              </a:rPr>
              <a:t>Localização &amp; busca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Onde cada produto está, por nome ou categoria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80060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521208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49834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A43"/>
                </a:solidFill>
                <a:latin typeface="Segoe UI"/>
              </a:rPr>
              <a:t>Controle &amp; alertas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Saldo em tempo real, estoque mínimo e inventário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BLOCO 02 · PRODUTO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O que o sistema faz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Apresenta: Daniel Dewes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B8A6"/>
                </a:solidFill>
                <a:latin typeface="Segoe UI"/>
              </a:rPr>
              <a:t>📋  </a:t>
            </a:r>
            <a:r>
              <a:rPr sz="1600" b="1">
                <a:solidFill>
                  <a:srgbClr val="0F2A43"/>
                </a:solidFill>
                <a:latin typeface="Segoe UI"/>
              </a:rPr>
              <a:t>Cadastro e organização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846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•  </a:t>
            </a:r>
            <a:r>
              <a:rPr sz="1300" b="0">
                <a:solidFill>
                  <a:srgbClr val="1E293B"/>
                </a:solidFill>
                <a:latin typeface="Segoe UI"/>
              </a:rPr>
              <a:t>Produtos com categoria e estoque mínimo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•  </a:t>
            </a:r>
            <a:r>
              <a:rPr sz="1300" b="0">
                <a:solidFill>
                  <a:srgbClr val="1E293B"/>
                </a:solidFill>
                <a:latin typeface="Segoe UI"/>
              </a:rPr>
              <a:t>Fornecedores e produtos fornecidos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•  </a:t>
            </a:r>
            <a:r>
              <a:rPr sz="1300" b="0">
                <a:solidFill>
                  <a:srgbClr val="1E293B"/>
                </a:solidFill>
                <a:latin typeface="Segoe UI"/>
              </a:rPr>
              <a:t>Armazém em áreas → corredores → posições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B8A6"/>
                </a:solidFill>
                <a:latin typeface="Segoe UI"/>
              </a:rPr>
              <a:t>🔄  </a:t>
            </a:r>
            <a:r>
              <a:rPr sz="1600" b="1">
                <a:solidFill>
                  <a:srgbClr val="0F2A43"/>
                </a:solidFill>
                <a:latin typeface="Segoe UI"/>
              </a:rPr>
              <a:t>Movimentação de estoque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846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•  </a:t>
            </a:r>
            <a:r>
              <a:rPr sz="1300" b="0">
                <a:solidFill>
                  <a:srgbClr val="1E293B"/>
                </a:solidFill>
                <a:latin typeface="Segoe UI"/>
              </a:rPr>
              <a:t>Entrada ao receber mercadoria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•  </a:t>
            </a:r>
            <a:r>
              <a:rPr sz="1300" b="0">
                <a:solidFill>
                  <a:srgbClr val="1E293B"/>
                </a:solidFill>
                <a:latin typeface="Segoe UI"/>
              </a:rPr>
              <a:t>Saída por expedição ou consumo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•  </a:t>
            </a:r>
            <a:r>
              <a:rPr sz="1300" b="0">
                <a:solidFill>
                  <a:srgbClr val="1E293B"/>
                </a:solidFill>
                <a:latin typeface="Segoe UI"/>
              </a:rPr>
              <a:t>Devoluções e transferências entre posições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B8A6"/>
                </a:solidFill>
                <a:latin typeface="Segoe UI"/>
              </a:rPr>
              <a:t>🔍  </a:t>
            </a:r>
            <a:r>
              <a:rPr sz="1600" b="1">
                <a:solidFill>
                  <a:srgbClr val="0F2A43"/>
                </a:solidFill>
                <a:latin typeface="Segoe UI"/>
              </a:rPr>
              <a:t>Localização e busca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4846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•  </a:t>
            </a:r>
            <a:r>
              <a:rPr sz="1300" b="0">
                <a:solidFill>
                  <a:srgbClr val="1E293B"/>
                </a:solidFill>
                <a:latin typeface="Segoe UI"/>
              </a:rPr>
              <a:t>Posição exata de cada produto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•  </a:t>
            </a:r>
            <a:r>
              <a:rPr sz="1300" b="0">
                <a:solidFill>
                  <a:srgbClr val="1E293B"/>
                </a:solidFill>
                <a:latin typeface="Segoe UI"/>
              </a:rPr>
              <a:t>Busca por nome ou categoria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•  </a:t>
            </a:r>
            <a:r>
              <a:rPr sz="1300" b="0">
                <a:solidFill>
                  <a:srgbClr val="1E293B"/>
                </a:solidFill>
                <a:latin typeface="Segoe UI"/>
              </a:rPr>
              <a:t>Localização rápida no armazém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02336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B8A6"/>
                </a:solidFill>
                <a:latin typeface="Segoe UI"/>
              </a:rPr>
              <a:t>📊  </a:t>
            </a:r>
            <a:r>
              <a:rPr sz="1600" b="1">
                <a:solidFill>
                  <a:srgbClr val="0F2A43"/>
                </a:solidFill>
                <a:latin typeface="Segoe UI"/>
              </a:rPr>
              <a:t>Controle e acompanhamento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754880"/>
            <a:ext cx="4846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•  </a:t>
            </a:r>
            <a:r>
              <a:rPr sz="1300" b="0">
                <a:solidFill>
                  <a:srgbClr val="1E293B"/>
                </a:solidFill>
                <a:latin typeface="Segoe UI"/>
              </a:rPr>
              <a:t>Saldo atual em tempo real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•  </a:t>
            </a:r>
            <a:r>
              <a:rPr sz="1300" b="0">
                <a:solidFill>
                  <a:srgbClr val="1E293B"/>
                </a:solidFill>
                <a:latin typeface="Segoe UI"/>
              </a:rPr>
              <a:t>Alerta de estoque abaixo do mínimo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•  </a:t>
            </a:r>
            <a:r>
              <a:rPr sz="1300" b="0">
                <a:solidFill>
                  <a:srgbClr val="1E293B"/>
                </a:solidFill>
                <a:latin typeface="Segoe UI"/>
              </a:rPr>
              <a:t>Inventário com conferência física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BLOCO 02 · 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Fluxos principais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Apresenta: Daniel Dewes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40680" cy="54864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A43"/>
                </a:solidFill>
                <a:latin typeface="Segoe UI"/>
              </a:rPr>
              <a:t>Fluxo 1 — Recebimento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0604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2A43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69464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Operador informa fornecedor e itens recebidos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4612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2A43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9544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Sistema confirma entrada e atualiza saldo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8620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2A43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49624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Sistema indica a posição de guarda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52628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2A43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9704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Operador aloca e confirma a posição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16636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2A43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29784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Estoque atualizado com posição e quantidade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828800"/>
            <a:ext cx="54406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1828800"/>
            <a:ext cx="5440680" cy="54864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Fluxo 2 — Expedição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260604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569464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Operador informa os itens do pedido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324612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209544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Sistema indica onde cada item está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388620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849624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Operador coleta e confirma cada item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452628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489704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Operador confirma a expedição</a:t>
            </a:r>
          </a:p>
        </p:txBody>
      </p:sp>
      <p:sp>
        <p:nvSpPr>
          <p:cNvPr id="29" name="Oval 28"/>
          <p:cNvSpPr/>
          <p:nvPr/>
        </p:nvSpPr>
        <p:spPr>
          <a:xfrm>
            <a:off x="6446520" y="516636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129784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Sistema registra a saída e atualiza saldo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BLOCO 02 · 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Mais três fluxos de apoio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Apresenta: Daniel Dewes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46304" cy="128016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7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60A5FA"/>
                </a:solidFill>
                <a:latin typeface="Segoe UI"/>
              </a:rPr>
              <a:t>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57399"/>
            <a:ext cx="9509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Segoe UI"/>
              </a:rPr>
              <a:t>Fluxo 3 — Alerta de Reposição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O sistema monitora o saldo e, ao cair abaixo do mínimo, gera um alerta para Compras com produto, quantidade atual e mínima.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59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337559"/>
            <a:ext cx="146304" cy="12801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7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A78BFA"/>
                </a:solidFill>
                <a:latin typeface="Segoe UI"/>
              </a:rPr>
              <a:t>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20439"/>
            <a:ext cx="9509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Segoe UI"/>
              </a:rPr>
              <a:t>Fluxo 4 — Inventário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Gestor inicia a contagem, operador informa o físico, o sistema compara com o registrado e destaca divergências para ajuste.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0599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800599"/>
            <a:ext cx="146304" cy="12801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01767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14B8A6"/>
                </a:solidFill>
                <a:latin typeface="Segoe UI"/>
              </a:rPr>
              <a:t>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83479"/>
            <a:ext cx="9509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Segoe UI"/>
              </a:rPr>
              <a:t>Fluxo 5 — Consulta de Estoque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Usuário busca um produto e vê saldo, posição, mínimo e histórico recente para decidir repor, transferir ou registrar.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BLOCO 03 · ENGENHARIA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Stack Tecnológica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Apresenta: Cesario Junior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28016" cy="1234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7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Next.js 15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Framework full-stack (Pages Router)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874519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70248" y="1874519"/>
            <a:ext cx="128016" cy="1234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75687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TypeScript 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Tipagem estática de ponta a ponta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874519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91856" y="1874519"/>
            <a:ext cx="128016" cy="1234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075687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PostgreSQL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Banco de dados relacional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39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291839"/>
            <a:ext cx="128016" cy="1234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93007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Prisma ORM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Acesso a dados e migrações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0248" y="3291839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70248" y="3291839"/>
            <a:ext cx="128016" cy="1234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3493007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NextAuth.js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Autenticação por JWT + Credentials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3291839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91856" y="3291839"/>
            <a:ext cx="128016" cy="1234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3493007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Zod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Validação no cliente e no servidor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09159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4709159"/>
            <a:ext cx="128016" cy="1234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10327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React Hook Form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Formulários performáticos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0248" y="4709159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70248" y="4709159"/>
            <a:ext cx="128016" cy="1234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6008" y="4910327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TanStack Query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Cache e estado assíncrono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91856" y="4709159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91856" y="4709159"/>
            <a:ext cx="128016" cy="1234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4910327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Tailwind CSS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Estilização utilitária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BLOCO 03 · ENGENHARIA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Arquitetura em camadas (MVC adaptado)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Apresenta: Cesario Junior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156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46304" cy="89611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56816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VIEW — Apresentação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pages/*.tsx · React + Hook Form + Zod + TanStack Query + Tailwind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2743200"/>
            <a:ext cx="274320" cy="201168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971800"/>
            <a:ext cx="105156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971800"/>
            <a:ext cx="146304" cy="89611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099816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CONTROLLER — API Routes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pages/api/*.ts · sessão, autorização por role, validação Zod, auditoria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3600" y="3886200"/>
            <a:ext cx="274320" cy="201168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114800"/>
            <a:ext cx="105156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114800"/>
            <a:ext cx="146304" cy="89611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242816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SERVICE — lib/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prisma.ts (singleton) · logging.ts (audit logs)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43600" y="5029200"/>
            <a:ext cx="274320" cy="201168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5257800"/>
            <a:ext cx="105156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5257800"/>
            <a:ext cx="146304" cy="89611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385816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0F2A43"/>
                </a:solidFill>
                <a:latin typeface="Segoe UI"/>
              </a:rPr>
              <a:t>MODEL — Prisma + PostgreSQL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schema.prisma · transações atômicas · migrações versionadas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BLOCO 03 · ENGENHARIA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Ciclo de uma requisição &amp; Segurança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Apresenta: Cesario Junior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8521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2A43"/>
                </a:solidFill>
                <a:latin typeface="Segoe UI"/>
              </a:rPr>
              <a:t>Baixa de estoque autenticada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53035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1.  </a:t>
            </a:r>
            <a:r>
              <a:rPr sz="1300" b="0">
                <a:solidFill>
                  <a:srgbClr val="1E293B"/>
                </a:solidFill>
                <a:latin typeface="Segoe UI"/>
              </a:rPr>
              <a:t>UI valida os dados com Zod (cliente)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2.  </a:t>
            </a:r>
            <a:r>
              <a:rPr sz="1300" b="0">
                <a:solidFill>
                  <a:srgbClr val="1E293B"/>
                </a:solidFill>
                <a:latin typeface="Segoe UI"/>
              </a:rPr>
              <a:t>TanStack Query envia POST /api/estoque/baixar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3.  </a:t>
            </a:r>
            <a:r>
              <a:rPr sz="1300" b="0">
                <a:solidFill>
                  <a:srgbClr val="1E293B"/>
                </a:solidFill>
                <a:latin typeface="Segoe UI"/>
              </a:rPr>
              <a:t>API verifica a sessão (401 se ausente)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4.  </a:t>
            </a:r>
            <a:r>
              <a:rPr sz="1300" b="0">
                <a:solidFill>
                  <a:srgbClr val="1E293B"/>
                </a:solidFill>
                <a:latin typeface="Segoe UI"/>
              </a:rPr>
              <a:t>Verifica o role do usuário (403 se sem permissão)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5.  </a:t>
            </a:r>
            <a:r>
              <a:rPr sz="1300" b="0">
                <a:solidFill>
                  <a:srgbClr val="1E293B"/>
                </a:solidFill>
                <a:latin typeface="Segoe UI"/>
              </a:rPr>
              <a:t>Valida o payload com Zod (400 se inválido)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6.  </a:t>
            </a:r>
            <a:r>
              <a:rPr sz="1300" b="0">
                <a:solidFill>
                  <a:srgbClr val="1E293B"/>
                </a:solidFill>
                <a:latin typeface="Segoe UI"/>
              </a:rPr>
              <a:t>Transação Prisma: saldo + movimentação + log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7.  </a:t>
            </a:r>
            <a:r>
              <a:rPr sz="1300" b="0">
                <a:solidFill>
                  <a:srgbClr val="1E293B"/>
                </a:solidFill>
                <a:latin typeface="Segoe UI"/>
              </a:rPr>
              <a:t>Retorna 200 e a UI revalida o 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5029200" cy="429768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9659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Segoe UI"/>
              </a:rPr>
              <a:t>🔒  Segurança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51460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• Senhas  —  </a:t>
            </a:r>
            <a:r>
              <a:rPr sz="1250" b="0">
                <a:solidFill>
                  <a:srgbClr val="CBD5E1"/>
                </a:solidFill>
                <a:latin typeface="Segoe UI"/>
              </a:rPr>
              <a:t>hash bcrypt — nunca em texto puro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3090672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• Autorização  —  </a:t>
            </a:r>
            <a:r>
              <a:rPr sz="1250" b="0">
                <a:solidFill>
                  <a:srgbClr val="CBD5E1"/>
                </a:solidFill>
                <a:latin typeface="Segoe UI"/>
              </a:rPr>
              <a:t>verificada server-side em cada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666744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• Validação  —  </a:t>
            </a:r>
            <a:r>
              <a:rPr sz="1250" b="0">
                <a:solidFill>
                  <a:srgbClr val="CBD5E1"/>
                </a:solidFill>
                <a:latin typeface="Segoe UI"/>
              </a:rPr>
              <a:t>toda entrada passa por Zod antes do banco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242816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• Sessão  —  </a:t>
            </a:r>
            <a:r>
              <a:rPr sz="1250" b="0">
                <a:solidFill>
                  <a:srgbClr val="CBD5E1"/>
                </a:solidFill>
                <a:latin typeface="Segoe UI"/>
              </a:rPr>
              <a:t>token JWT assinado com NEXTAUTH_SECRET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818888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• SQL Injection  —  </a:t>
            </a:r>
            <a:r>
              <a:rPr sz="1250" b="0">
                <a:solidFill>
                  <a:srgbClr val="CBD5E1"/>
                </a:solidFill>
                <a:latin typeface="Segoe UI"/>
              </a:rPr>
              <a:t>mitigado pelo Prisma (queries parametrizadas)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539496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• Auditoria  —  </a:t>
            </a:r>
            <a:r>
              <a:rPr sz="1250" b="0">
                <a:solidFill>
                  <a:srgbClr val="CBD5E1"/>
                </a:solidFill>
                <a:latin typeface="Segoe UI"/>
              </a:rPr>
              <a:t>toda ação relevante gera um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BLOCO 04 ·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Modelagem do Banco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Apresenta: Yuri Carvalho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28016" cy="10058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A43"/>
                </a:solidFill>
                <a:latin typeface="Segoe UI"/>
              </a:rPr>
              <a:t>Usuario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Quem opera o sistema · role de acesso · CUID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128016" cy="10058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A43"/>
                </a:solidFill>
                <a:latin typeface="Segoe UI"/>
              </a:rPr>
              <a:t>Produto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Item de estoque · quantidade é a fonte de verdade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128016" cy="10058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82112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A43"/>
                </a:solidFill>
                <a:latin typeface="Segoe UI"/>
              </a:rPr>
              <a:t>MovimentacaoEstoque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Ledger imutável · cada entrada/saída/ajuste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01752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017520"/>
            <a:ext cx="128016" cy="10058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182112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A43"/>
                </a:solidFill>
                <a:latin typeface="Segoe UI"/>
              </a:rPr>
              <a:t>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Auditoria de toda ação relevante (JSON)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Enums do domínio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5212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UsuarioRole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ADMIN · GERENTE · OPERADOR ·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83480"/>
            <a:ext cx="5212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TipoMovimento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ESTOQUE_INICIAL · COMPRA_ENTRADA · VENDA_SAIDA · AJUSTE_ESTOQUE · PERDA_ESTOQUE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BLOCO 04 ·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Regras de negócio no banco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Apresenta: Yuri Carvalho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59E0B"/>
                </a:solidFill>
                <a:latin typeface="Segoe UI"/>
              </a:rP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38528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Atomicidade  —  </a:t>
            </a:r>
            <a:r>
              <a:rPr sz="1300" b="0">
                <a:solidFill>
                  <a:srgbClr val="64748B"/>
                </a:solidFill>
                <a:latin typeface="Segoe UI"/>
              </a:rPr>
              <a:t>Produto + Movimentação + Log sempre em uma única transação Prisma — o saldo nunca racha.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24912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89504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59E0B"/>
                </a:solidFill>
                <a:latin typeface="Segoe UI"/>
              </a:rP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3464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Saldo é fonte de verdade  —  </a:t>
            </a:r>
            <a:r>
              <a:rPr sz="1300" b="0">
                <a:solidFill>
                  <a:srgbClr val="64748B"/>
                </a:solidFill>
                <a:latin typeface="Segoe UI"/>
              </a:rPr>
              <a:t>Produto.quantidade reflete o estoque atual; as movimentações são o histórico auditável.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21024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85616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59E0B"/>
                </a:solidFill>
                <a:latin typeface="Segoe UI"/>
              </a:rP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30752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Integridade referencial  —  </a:t>
            </a:r>
            <a:r>
              <a:rPr sz="1300" b="0">
                <a:solidFill>
                  <a:srgbClr val="64748B"/>
                </a:solidFill>
                <a:latin typeface="Segoe UI"/>
              </a:rPr>
              <a:t>Excluir um Produto cascateia para suas movimentações (onDelete: Cascade).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59E0B"/>
                </a:solidFill>
                <a:latin typeface="Segoe UI"/>
              </a:rPr>
              <a:t>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62686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Rastreabilidade  —  </a:t>
            </a:r>
            <a:r>
              <a:rPr sz="1300" b="0">
                <a:solidFill>
                  <a:srgbClr val="64748B"/>
                </a:solidFill>
                <a:latin typeface="Segoe UI"/>
              </a:rPr>
              <a:t>Toda movimentação referencia obrigatoriamente o usuário responsável.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13248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59E0B"/>
                </a:solidFill>
                <a:latin typeface="Segoe UI"/>
              </a:rPr>
              <a:t>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522976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Senha protegida  —  </a:t>
            </a:r>
            <a:r>
              <a:rPr sz="1300" b="0">
                <a:solidFill>
                  <a:srgbClr val="64748B"/>
                </a:solidFill>
                <a:latin typeface="Segoe UI"/>
              </a:rPr>
              <a:t>Usuario.password guarda apenas hash bcrypt — jamais texto puro.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BLOCO 04 ·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API REST &amp; Permissões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Apresenta: Yuri Carvalho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Endpoints Next.js API Routes — REST, autenticados por JWT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4406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9424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GET  /api/produtos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54406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49424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POST /api/produtos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61488"/>
            <a:ext cx="54406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GET  /api/produtos/[id]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761488"/>
            <a:ext cx="54406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16352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PUT  /api/produtos/[id]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28416"/>
            <a:ext cx="54406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DELETE /api/produtos/[id]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328416"/>
            <a:ext cx="54406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POST /api/estoque/baixar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60520"/>
            <a:ext cx="11064240" cy="201168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7939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Matriz de permissões por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548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Consultar produtos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5488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4B8A6"/>
                </a:solidFill>
                <a:latin typeface="Segoe UI"/>
              </a:rPr>
              <a:t>USUARIO · OPERADOR · GERENTE ·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0235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Baixar estoque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102352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4B8A6"/>
                </a:solidFill>
                <a:latin typeface="Segoe UI"/>
              </a:rPr>
              <a:t>OPERADOR · GERENTE ·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49824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Criar / editar produto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449824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4B8A6"/>
                </a:solidFill>
                <a:latin typeface="Segoe UI"/>
              </a:rPr>
              <a:t>GERENTE ·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797296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Excluir produto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797296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4B8A6"/>
                </a:solidFill>
                <a:latin typeface="Segoe UI"/>
              </a:rPr>
              <a:t>ADMIN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BLOCO 04 ·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31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Como construímos: PRD → Spec → Código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615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Apresenta: Yuri Carvalho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103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F2A43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PRD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Problema, público, funcionalidades e fluxos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33472" y="3017520"/>
            <a:ext cx="228600" cy="27432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2103120"/>
            <a:ext cx="2103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F2A43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918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033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Requisitos detalhados a partir do PRD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73752" y="3017520"/>
            <a:ext cx="228600" cy="27432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2103120"/>
            <a:ext cx="2103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15000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F2A43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2918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Plano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7033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Stack e arquitetura registradas em decisões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14032" y="3017520"/>
            <a:ext cx="228600" cy="27432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9480" y="2103120"/>
            <a:ext cx="2103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5280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F2A43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2918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Implementação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7033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Construção em módulos por feature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54312" y="3017520"/>
            <a:ext cx="228600" cy="27432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09760" y="2103120"/>
            <a:ext cx="2103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95560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F2A43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2918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Validação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7033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Verificação da qualidade entregue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663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Cada funcionalidade nasce de uma </a:t>
            </a:r>
            <a:r>
              <a:rPr sz="1500" b="1">
                <a:solidFill>
                  <a:srgbClr val="0F2A43"/>
                </a:solidFill>
                <a:latin typeface="Segoe UI"/>
              </a:rPr>
              <a:t>change versionada</a:t>
            </a:r>
            <a:r>
              <a:rPr sz="1500" b="0">
                <a:solidFill>
                  <a:srgbClr val="1E293B"/>
                </a:solidFill>
                <a:latin typeface="Segoe UI"/>
              </a:rPr>
              <a:t> (propose → specs + design → tasks → apply → archive).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Zod é a fonte única de verdade dos dados e o mesmo schema valida no formulário e no servidor.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Obrigado!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CBD5E1"/>
                </a:solidFill>
                <a:latin typeface="Segoe UI"/>
              </a:rPr>
              <a:t>Sistema de Gestão de Armazém — controle de estoque em tempo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3200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9E0B"/>
                </a:solidFill>
                <a:latin typeface="Segoe UI"/>
              </a:rPr>
              <a:t>Perguntas?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Samuel Maciel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57200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47548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Daniel Dewes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7548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Cesario Junior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457200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47548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Yuri Carvalho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github.com/AtomicWorm/sistemaWMS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